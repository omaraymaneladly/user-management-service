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df426797804453" /><Relationship Type="http://schemas.openxmlformats.org/officeDocument/2006/relationships/extended-properties" Target="/docProps/app.xml" Id="R49de8c99d4894986" /><Relationship Type="http://schemas.openxmlformats.org/officeDocument/2006/relationships/officeDocument" Target="/ppt/presentation.xml" Id="R028e99f701a148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f5790b35a04f36"/>
  </p:sldMasterIdLst>
  <p:notesMasterIdLst>
    <p:notesMasterId xmlns:r="http://schemas.openxmlformats.org/officeDocument/2006/relationships" r:id="R7ed4070634b24159"/>
  </p:notesMasterIdLst>
  <p:sldIdLst>
    <p:sldId xmlns:r="http://schemas.openxmlformats.org/officeDocument/2006/relationships" id="256" r:id="Rbcf0df960abf479f"/>
    <p:sldId xmlns:r="http://schemas.openxmlformats.org/officeDocument/2006/relationships" id="257" r:id="Rf68cdc2d49fa485e"/>
    <p:sldId xmlns:r="http://schemas.openxmlformats.org/officeDocument/2006/relationships" id="258" r:id="Rfb7c5cb43e67454d"/>
    <p:sldId xmlns:r="http://schemas.openxmlformats.org/officeDocument/2006/relationships" id="259" r:id="Rf825207c2d6944f4"/>
    <p:sldId xmlns:r="http://schemas.openxmlformats.org/officeDocument/2006/relationships" id="260" r:id="R108f3e9fe417499d"/>
    <p:sldId xmlns:r="http://schemas.openxmlformats.org/officeDocument/2006/relationships" id="261" r:id="Re500063915574812"/>
    <p:sldId xmlns:r="http://schemas.openxmlformats.org/officeDocument/2006/relationships" id="262" r:id="Rfc702d92050a477f"/>
    <p:sldId xmlns:r="http://schemas.openxmlformats.org/officeDocument/2006/relationships" id="263" r:id="R116b1389ffeb40b1"/>
    <p:sldId xmlns:r="http://schemas.openxmlformats.org/officeDocument/2006/relationships" id="264" r:id="Rde7a03cf3a3c43a4"/>
    <p:sldId xmlns:r="http://schemas.openxmlformats.org/officeDocument/2006/relationships" id="265" r:id="R52265191650d42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a78c673f03413b" /><Relationship Type="http://schemas.openxmlformats.org/officeDocument/2006/relationships/slideMaster" Target="/ppt/slideMasters/slideMaster1.xml" Id="R1ef5790b35a04f36" /><Relationship Type="http://schemas.openxmlformats.org/officeDocument/2006/relationships/notesMaster" Target="/ppt/notesMasters/notesMaster1.xml" Id="R7ed4070634b24159" /><Relationship Type="http://schemas.openxmlformats.org/officeDocument/2006/relationships/presProps" Target="/ppt/presProps.xml" Id="R6b88cc64a09140fa" /><Relationship Type="http://schemas.openxmlformats.org/officeDocument/2006/relationships/tableStyles" Target="/ppt/tableStyles.xml" Id="R3f0363517ca54d9a" /><Relationship Type="http://schemas.openxmlformats.org/officeDocument/2006/relationships/slide" Target="/ppt/slides/slide1.xml" Id="Rbcf0df960abf479f" /><Relationship Type="http://schemas.openxmlformats.org/officeDocument/2006/relationships/slide" Target="/ppt/slides/slide2.xml" Id="Rf68cdc2d49fa485e" /><Relationship Type="http://schemas.openxmlformats.org/officeDocument/2006/relationships/slide" Target="/ppt/slides/slide3.xml" Id="Rfb7c5cb43e67454d" /><Relationship Type="http://schemas.openxmlformats.org/officeDocument/2006/relationships/slide" Target="/ppt/slides/slide4.xml" Id="Rf825207c2d6944f4" /><Relationship Type="http://schemas.openxmlformats.org/officeDocument/2006/relationships/slide" Target="/ppt/slides/slide5.xml" Id="R108f3e9fe417499d" /><Relationship Type="http://schemas.openxmlformats.org/officeDocument/2006/relationships/slide" Target="/ppt/slides/slide6.xml" Id="Re500063915574812" /><Relationship Type="http://schemas.openxmlformats.org/officeDocument/2006/relationships/slide" Target="/ppt/slides/slide7.xml" Id="Rfc702d92050a477f" /><Relationship Type="http://schemas.openxmlformats.org/officeDocument/2006/relationships/slide" Target="/ppt/slides/slide8.xml" Id="R116b1389ffeb40b1" /><Relationship Type="http://schemas.openxmlformats.org/officeDocument/2006/relationships/slide" Target="/ppt/slides/slide9.xml" Id="Rde7a03cf3a3c43a4" /><Relationship Type="http://schemas.openxmlformats.org/officeDocument/2006/relationships/slide" Target="/ppt/slides/slide10.xml" Id="R52265191650d42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7b441e31d944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1a7aad0ecb45ca" /><Relationship Type="http://schemas.openxmlformats.org/officeDocument/2006/relationships/notesMaster" Target="/ppt/notesMasters/notesMaster1.xml" Id="R99925f76b4d74e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0e3c96e27246ba" /><Relationship Type="http://schemas.openxmlformats.org/officeDocument/2006/relationships/notesMaster" Target="/ppt/notesMasters/notesMaster1.xml" Id="R410f83a4c0be49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115c9bd0d24ca9" /><Relationship Type="http://schemas.openxmlformats.org/officeDocument/2006/relationships/notesMaster" Target="/ppt/notesMasters/notesMaster1.xml" Id="Rbadf8b0e39274c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a20965317b4beb" /><Relationship Type="http://schemas.openxmlformats.org/officeDocument/2006/relationships/notesMaster" Target="/ppt/notesMasters/notesMaster1.xml" Id="Rc3cd58d2ec3f4d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d4b5955d9b4a9d" /><Relationship Type="http://schemas.openxmlformats.org/officeDocument/2006/relationships/notesMaster" Target="/ppt/notesMasters/notesMaster1.xml" Id="Rd4085fdb3b114f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22d0a5466a4216" /><Relationship Type="http://schemas.openxmlformats.org/officeDocument/2006/relationships/notesMaster" Target="/ppt/notesMasters/notesMaster1.xml" Id="Rbac2247a598e49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7907f03414472b" /><Relationship Type="http://schemas.openxmlformats.org/officeDocument/2006/relationships/notesMaster" Target="/ppt/notesMasters/notesMaster1.xml" Id="Rc91a8193c87a4b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5941ad0bf840f4" /><Relationship Type="http://schemas.openxmlformats.org/officeDocument/2006/relationships/notesMaster" Target="/ppt/notesMasters/notesMaster1.xml" Id="R2c860b09343a49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e80e3d97024419" /><Relationship Type="http://schemas.openxmlformats.org/officeDocument/2006/relationships/notesMaster" Target="/ppt/notesMasters/notesMaster1.xml" Id="R85f87a7dd49741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be82f6417a42e4" /><Relationship Type="http://schemas.openxmlformats.org/officeDocument/2006/relationships/notesMaster" Target="/ppt/notesMasters/notesMaster1.xml" Id="R4cd011f33ac845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saying this is not just a Keycloak feature demo. It explains which system issues tokens, which system authenticates external users, and how the Spring Boot app validates the result.</a:t>
            </a:r>
          </a:p>
          <a:p xmlns:a="http://schemas.openxmlformats.org/drawingml/2006/main">
            <a:r>
              <a:t>The main distinction: Cloud-IAM authenticates, but the local Keycloak broker issues the API token.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project configuration and Keycloak setup discussed in this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vocabulary first: resource server, broker, provider.</a:t>
            </a:r>
          </a:p>
          <a:p xmlns:a="http://schemas.openxmlformats.org/drawingml/2006/main">
            <a:r>
              <a:t>The broker is the middle Keycloak. It starts the login, delegates authentication, receives the callback, creates or links a local user, and issues the final local token.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project configuration and Keycloak setup discussed in this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setup slide your team lead will care about. The app and the broker are local, while the external identity provider is Cloud-IAM.</a:t>
            </a:r>
          </a:p>
          <a:p xmlns:a="http://schemas.openxmlformats.org/drawingml/2006/main">
            <a:r>
              <a:t>If the alias changes, the callback URL changes. That was one of the key troubleshooting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project configuration and Keycloak setup discussed in this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API is a resource server. It is not configured with Cloud-IAM as issuer. It is configured with the local Keycloak issuer.</a:t>
            </a:r>
          </a:p>
          <a:p xmlns:a="http://schemas.openxmlformats.org/drawingml/2006/main">
            <a:r>
              <a:t>That is why the final JWT must have iss equal to http://localhost:8081/realms/task-management-demo.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task-management-api application.yaml and SecurityConfig inspected from C:/Users/HP/Desktop/task-management-api.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this as a handshake. Cloud-IAM needs to know where to return the user. Local Keycloak needs to know Cloud-IAM's auth, token, userinfo, and JWKS endpoints.</a:t>
            </a:r>
          </a:p>
          <a:p xmlns:a="http://schemas.openxmlformats.org/drawingml/2006/main">
            <a:r>
              <a:t>The discovery URL fills most of the endpoint fields automatically.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project configuration and Keycloak setup discussed in this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hardcoded role is useful for proving the flow, but not a final production authorization model.</a:t>
            </a:r>
          </a:p>
          <a:p xmlns:a="http://schemas.openxmlformats.org/drawingml/2006/main">
            <a:r>
              <a:t>A safer production setup maps a specific Cloud-IAM group or claim to a local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project configuration and Keycloak setup discussed in this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demo slide. Start from the local account URL. Do not start from Cloud-IAM directly, because then you are not testing the broker.</a:t>
            </a:r>
          </a:p>
          <a:p xmlns:a="http://schemas.openxmlformats.org/drawingml/2006/main">
            <a:r>
              <a:t>After login, show the local Keycloak Users page and the imported user.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project configuration and Keycloak setup discussed in this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Postman or jwt.io, decode the token and point to the iss claim. This avoids long explanations.</a:t>
            </a:r>
          </a:p>
          <a:p xmlns:a="http://schemas.openxmlformats.org/drawingml/2006/main">
            <a:r>
              <a:t>If the issuer does not match the Spring Boot issuer-uri, the resource server rejects the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project configuration and Keycloak setup discussed in this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your live demo checklist. The last verification is inside the local Keycloak admin console.</a:t>
            </a:r>
          </a:p>
          <a:p xmlns:a="http://schemas.openxmlformats.org/drawingml/2006/main">
            <a:r>
              <a:t>When the user is imported, open the user and show Federated identity. Then show Role mapping if the hardcoded role mapper was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project configuration and Keycloak setup discussed in this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crisp summary: provider authenticates, broker issues, API validates.</a:t>
            </a:r>
          </a:p>
          <a:p xmlns:a="http://schemas.openxmlformats.org/drawingml/2006/main">
            <a:r>
              <a:t>Mention the future production step: replace hardcoded role mapper with claim or group-based role mapping.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project configuration and Keycloak setup discussed in this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5106843be43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695767f5f6478a" /><Relationship Type="http://schemas.openxmlformats.org/officeDocument/2006/relationships/slideLayout" Target="/ppt/slideLayouts/slideLayout1.xml" Id="R9da6b55b04eb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a6b55b04eb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91602fefc4899" /><Relationship Type="http://schemas.openxmlformats.org/officeDocument/2006/relationships/notesSlide" Target="/ppt/notesSlides/notesSlide1.xml" Id="R67a5e357d3aa4d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4a7eb4ead4d5e" /><Relationship Type="http://schemas.openxmlformats.org/officeDocument/2006/relationships/notesSlide" Target="/ppt/notesSlides/notesSlide2.xml" Id="R496d6d7d228840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9a80d4e6a4160" /><Relationship Type="http://schemas.openxmlformats.org/officeDocument/2006/relationships/notesSlide" Target="/ppt/notesSlides/notesSlide3.xml" Id="R788238c5210240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1492b3bae4cc3" /><Relationship Type="http://schemas.openxmlformats.org/officeDocument/2006/relationships/notesSlide" Target="/ppt/notesSlides/notesSlide4.xml" Id="Rdf405db1b1834c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4cc162b8d4d10" /><Relationship Type="http://schemas.openxmlformats.org/officeDocument/2006/relationships/notesSlide" Target="/ppt/notesSlides/notesSlide5.xml" Id="Re83ad043ad5346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cb1c3efa64334" /><Relationship Type="http://schemas.openxmlformats.org/officeDocument/2006/relationships/notesSlide" Target="/ppt/notesSlides/notesSlide6.xml" Id="Ra4f94adfad3141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4f57e37014964" /><Relationship Type="http://schemas.openxmlformats.org/officeDocument/2006/relationships/notesSlide" Target="/ppt/notesSlides/notesSlide7.xml" Id="R4538f221aebc4f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75a536e784a53" /><Relationship Type="http://schemas.openxmlformats.org/officeDocument/2006/relationships/notesSlide" Target="/ppt/notesSlides/notesSlide8.xml" Id="R2c68db2404f941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1d21cba75417e" /><Relationship Type="http://schemas.openxmlformats.org/officeDocument/2006/relationships/notesSlide" Target="/ppt/notesSlides/notesSlide9.xml" Id="Rc6e977a1977248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ef769a8f54ca2" /><Relationship Type="http://schemas.openxmlformats.org/officeDocument/2006/relationships/notesSlide" Target="/ppt/notesSlides/notesSlide10.xml" Id="Rb64d8bcc84b543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A190D-D147-44B9-AE7C-A899ED28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Keycloak Identity Brokering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9E963-236A-4250-BE17-9551721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3"/>
                </a:solidFill>
              </a:defRPr>
            </a:pPr>
            <a:r>
              <a:rPr sz="1800" b="0">
                <a:solidFill>
                  <a:srgbClr val="555B63"/>
                </a:solidFill>
              </a:rPr>
              <a:t>How the task-management API uses a local Keycloak broker with Cloud-IAM as the external identity provider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FD03B-DE10-4C55-86F1-C7C013FF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19150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AAAA2-65B5-41FD-917A-BC7F9291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257300"/>
            <a:ext cx="2647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3B9D7-75A7-4EEA-B88B-49F79FBC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2573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A491A-9EC1-4354-8DD5-41C743A5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478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Spring Boot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44B6F-30BA-4E5E-B00C-79B02A85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0975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B63"/>
                </a:solidFill>
              </a:defRPr>
            </a:pPr>
            <a:r>
              <a:rPr sz="1125" b="0">
                <a:solidFill>
                  <a:srgbClr val="555B63"/>
                </a:solidFill>
              </a:rPr>
              <a:t>localhost:18080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5E6D3-74FD-464E-821C-322932E1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2647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5A280-8CEF-4A11-86EE-7926132E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8C5D3-B88D-4A4E-BA31-967E188F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Identity Broker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DDF06-157B-4FE2-8520-B026C66B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B63"/>
                </a:solidFill>
              </a:defRPr>
            </a:pPr>
            <a:r>
              <a:rPr sz="1125" b="0">
                <a:solidFill>
                  <a:srgbClr val="555B63"/>
                </a:solidFill>
              </a:rPr>
              <a:t>Local Keycloak on localhost:8081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94866-DAF7-4729-BF00-C1C100CA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2647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93696-F11B-4C88-871C-434C9850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CDA9E-5053-4EE1-9FF5-B99C3D11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053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Identity Provider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644FC-BD4A-4E77-86FA-11522BD2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6725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B63"/>
                </a:solidFill>
              </a:defRPr>
            </a:pPr>
            <a:r>
              <a:rPr sz="1125" b="0">
                <a:solidFill>
                  <a:srgbClr val="555B63"/>
                </a:solidFill>
              </a:rPr>
              <a:t>Cloud-IAM Keycloak realm user-management-dev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4EAC4-AB67-47AF-8AE2-B42AC505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Presentation goal: make the flow repeatable, testable, and easy to explain.</a:t>
            </a:r>
          </a:p>
        </p:txBody>
      </p:sp>
    </p:spTree>
    <p:extLst>
      <p:ext uri="{BB962C8B-B14F-4D97-AF65-F5344CB8AC3E}">
        <p14:creationId xmlns:p14="http://schemas.microsoft.com/office/powerpoint/2010/main" val="269655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36D0E-1D71-422D-82D4-C9ADC1D4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The system has three moving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9AF48-133A-4291-B9B5-E2188744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3"/>
                </a:solidFill>
              </a:defRPr>
            </a:pPr>
            <a:r>
              <a:rPr sz="1275" b="0">
                <a:solidFill>
                  <a:srgbClr val="555B63"/>
                </a:solidFill>
              </a:rPr>
              <a:t>Each part has one clear security responsibility.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2E0CA-03B6-467F-9B23-AE17A248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8C55F-2854-47B4-B558-9E52430B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3"/>
                </a:solidFill>
              </a:defRPr>
            </a:pPr>
            <a:r>
              <a:rPr sz="975" b="0">
                <a:solidFill>
                  <a:srgbClr val="555B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A2440-C533-43FA-B594-E646A76B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5E4E4-8926-4D0E-B3E5-8E538861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64F94-F293-44A0-A16D-D674C2E3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Spring Boot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2EAB3-BE18-4B67-BE08-F388BBDB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B63"/>
                </a:solidFill>
              </a:defRPr>
            </a:pPr>
            <a:r>
              <a:rPr sz="1125" b="0">
                <a:solidFill>
                  <a:srgbClr val="555B63"/>
                </a:solidFill>
              </a:rPr>
              <a:t>Resource server. It does not log users in; it validates JWT access tokens.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24B6E-B454-4433-86AA-86578597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193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74147-6F72-4303-85FF-1D65FB92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193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3CE7F-15E5-4353-A497-107E657C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098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Identity broker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1D522-AB66-4B37-B413-D9F3355A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B63"/>
                </a:solidFill>
              </a:defRPr>
            </a:pPr>
            <a:r>
              <a:rPr sz="1125" b="0">
                <a:solidFill>
                  <a:srgbClr val="555B63"/>
                </a:solidFill>
              </a:rPr>
              <a:t>Local Keycloak. It owns the realm trusted by the API and can redirect login to external providers.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2D758-7287-43E8-B660-90B985D6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193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7B2B8-15CF-4A50-8C98-99567BB3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193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1461E-28BA-4B50-8B9E-F87A2A00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Identity provider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01B18-4C40-4367-952B-9D9650F7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B63"/>
                </a:solidFill>
              </a:defRPr>
            </a:pPr>
            <a:r>
              <a:rPr sz="1125" b="0">
                <a:solidFill>
                  <a:srgbClr val="555B63"/>
                </a:solidFill>
              </a:rPr>
              <a:t>Cloud-IAM Keycloak. It authenticates the external user and sends identity claims back to the broker.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60FB0-E079-4935-994D-4C55E270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0300"/>
            <a:ext cx="4953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6553F-8CBB-4DFA-BC6E-A39C3D10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400300"/>
            <a:ext cx="4953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E4234-D076-41B1-985C-19CAB8AA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The API accepts tokens from the broker only.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D5F24-11C9-4E1A-BDF5-0C5D96A3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3"/>
                </a:solidFill>
              </a:defRPr>
            </a:pPr>
            <a:r>
              <a:rPr sz="1500" b="0">
                <a:solidFill>
                  <a:srgbClr val="555B63"/>
                </a:solidFill>
              </a:rPr>
              <a:t>That keeps authorization centralized in the local realm even when the user originally signs in through Cloud-IAM.</a:t>
            </a:r>
          </a:p>
        </p:txBody>
      </p:sp>
    </p:spTree>
    <p:extLst>
      <p:ext uri="{BB962C8B-B14F-4D97-AF65-F5344CB8AC3E}">
        <p14:creationId xmlns:p14="http://schemas.microsoft.com/office/powerpoint/2010/main" val="1026859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B137CE-B48E-4482-8671-CEEDB065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Environment setup uses localhost for the app and broker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C20C4-E1D3-463C-AAC4-4D6C0D9C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3"/>
                </a:solidFill>
              </a:defRPr>
            </a:pPr>
            <a:r>
              <a:rPr sz="1275" b="0">
                <a:solidFill>
                  <a:srgbClr val="555B63"/>
                </a:solidFill>
              </a:rPr>
              <a:t>This is the concrete development topology we configured.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23DD8-B26B-4178-A27F-A7AEF08F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F6459-36AF-4DFA-9E06-972DC855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3"/>
                </a:solidFill>
              </a:defRPr>
            </a:pPr>
            <a:r>
              <a:rPr sz="975" b="0">
                <a:solidFill>
                  <a:srgbClr val="555B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B2AB2-7518-475D-9410-83D3AF6B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048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F1FEE-722F-4807-ABB1-B02A04FA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Local services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0B942-6477-48A0-B775-4109A9E3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B6BB6-3180-43BB-AA5C-C8A1735A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task-management-api: http://localhost:18080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30EF0-1B65-4630-A010-85BB14DE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AC3BC-736D-4BC3-A3FE-9AD6BAAD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Local Keycloak broker: http://localhost:8081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2CA98-CD57-48D0-AEA6-02ADA15F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E01D1-0E1F-404A-A55B-50BB0C2A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Local broker realm: task-management-demo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DB1E2-D5B5-4CF0-AB95-A3B06FB5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FD615-64C1-4108-ACCE-8CEFB3BB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Local broker client: task-management-client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47A2A-6B92-4E2F-A4B2-AFF2B0A3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5048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3EB8E-2D68-44EB-BBCC-72FD194B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External provider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DF7B7-BEBC-47F2-9C63-A7CA6B5F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8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E6C3F-C617-462D-B284-93CE51E2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Cloud-IAM base: https://lemur-2.cloud-iam.com/auth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49598-528F-4D0C-9F1D-7DD40870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612A1-27AF-4C41-92FB-24083E4C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Provider realm: user-management-dev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1B893-04AD-4B12-85A9-A447CF7C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25311-E42A-4AAB-9C19-58482506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48050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Broker callback alias: cloud-iam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C5126-1FBD-4246-B23B-249A1515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3ED166-1CF9-456C-B0E0-9ED3A920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Callback URL ends with /broker/cloud-iam/endpoint</a:t>
            </a:r>
          </a:p>
        </p:txBody>
      </p:sp>
    </p:spTree>
    <p:extLst>
      <p:ext uri="{BB962C8B-B14F-4D97-AF65-F5344CB8AC3E}">
        <p14:creationId xmlns:p14="http://schemas.microsoft.com/office/powerpoint/2010/main" val="1970805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E26F0-DDE3-4E9B-AB34-50C0D584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Spring Boot integrates with the broker using OIDC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AB3A0-472C-439A-9695-CFD18AF2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3"/>
                </a:solidFill>
              </a:defRPr>
            </a:pPr>
            <a:r>
              <a:rPr sz="1275" b="0">
                <a:solidFill>
                  <a:srgbClr val="555B63"/>
                </a:solidFill>
              </a:rPr>
              <a:t>The API validates the issuer and roles from local Keycloak tokens.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E6FAD-05DA-4568-B7C4-A75EC2B4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E6436-3F78-447A-AAD2-688E70FD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3"/>
                </a:solidFill>
              </a:defRPr>
            </a:pPr>
            <a:r>
              <a:rPr sz="975" b="0">
                <a:solidFill>
                  <a:srgbClr val="555B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CAEAE-60CC-4D96-B2AA-E7B0E11D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143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51B8A-71E5-421B-9757-4200A8FD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application.yaml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DD032-7953-4B23-AA2B-6CEFD95A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spring.security.oauth2.resourceserver.jwt.issuer-uri: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http://localhost:8081/realms/task-management-demo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035D0-8CD6-4BD8-8498-5BC23E7D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50932-38FE-4E78-A447-5528A508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SecurityConfig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C639A-276F-48E4-B823-37F01F42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Every request is authenticated.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JWT roles are read from realm_access.roles.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Spring sees PORTAL_ADMIN as ROLE_PORTAL_ADMIN.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45E7A-4713-4112-A954-AF6D688E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Meaning: Cloud-IAM tokens are not accepted directly. The app trusts only tokens issued by the local broker realm.</a:t>
            </a:r>
          </a:p>
        </p:txBody>
      </p:sp>
    </p:spTree>
    <p:extLst>
      <p:ext uri="{BB962C8B-B14F-4D97-AF65-F5344CB8AC3E}">
        <p14:creationId xmlns:p14="http://schemas.microsoft.com/office/powerpoint/2010/main" val="10084907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B1136-82DA-4E3B-B537-62D9C569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The broker integrates with Cloud-IAM as an OIDC identity provider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D095F-6487-41A6-B69D-072499EB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3"/>
                </a:solidFill>
              </a:defRPr>
            </a:pPr>
            <a:r>
              <a:rPr sz="1275" b="0">
                <a:solidFill>
                  <a:srgbClr val="555B63"/>
                </a:solidFill>
              </a:rPr>
              <a:t>Local Keycloak uses a confidential client created in Cloud-IAM.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C5AB0-C247-4732-8BD8-A9D8427C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060C1-80EC-47F5-A3C8-B120CD2A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3"/>
                </a:solidFill>
              </a:defRPr>
            </a:pPr>
            <a:r>
              <a:rPr sz="975" b="0">
                <a:solidFill>
                  <a:srgbClr val="555B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64858-2806-45CD-A4AF-70E77458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751A3-F4F3-4964-881A-C776C42C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E7ACC-52A9-4DD2-AF5E-A781C8C7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383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Create client in Cloud-IAM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D537C-E158-4893-AF2D-DC353579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3"/>
                </a:solidFill>
              </a:defRPr>
            </a:pPr>
            <a:r>
              <a:rPr sz="1200" b="0">
                <a:solidFill>
                  <a:srgbClr val="555B63"/>
                </a:solidFill>
              </a:rPr>
              <a:t>Client ID local-keycloak-broker, client authentication ON, standard flow 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CA289-E979-43C9-A322-244C5FB2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57645-01AD-46F3-B6B0-C01FC6DF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6EE51-5D14-41FE-A002-D62E16F6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099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Add redirect URI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2122D-61DA-4ABD-90A7-FDA26E2E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528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3"/>
                </a:solidFill>
              </a:defRPr>
            </a:pPr>
            <a:r>
              <a:rPr sz="1200" b="0">
                <a:solidFill>
                  <a:srgbClr val="555B63"/>
                </a:solidFill>
              </a:rPr>
              <a:t>http://localhost:8081/realms/task-management-demo/broker/cloud-iam/endpoint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4C0FC-1E4A-4100-A796-31A2568A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D386A-D3F5-4541-9E16-ABC64B8D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193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4681E-1F07-4675-A23B-3B6E721B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Create identity provider locally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74AD9-16A0-4758-B816-7F72FE0C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812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3"/>
                </a:solidFill>
              </a:defRPr>
            </a:pPr>
            <a:r>
              <a:rPr sz="1200" b="0">
                <a:solidFill>
                  <a:srgbClr val="555B63"/>
                </a:solidFill>
              </a:rPr>
              <a:t>Provider type OpenID Connect v1.0, alias cloud-iam, discovery endpoint from Cloud-IAM.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62BFB-58EC-4940-B159-F010EAF9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575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F45E2-223A-4A81-8120-21DC2D43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99BF7-C3BE-4A5B-98A2-B2FDEC27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099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Paste client secret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2A4D3-9D4E-4400-B661-3FAC4188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528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3"/>
                </a:solidFill>
              </a:defRPr>
            </a:pPr>
            <a:r>
              <a:rPr sz="1200" b="0">
                <a:solidFill>
                  <a:srgbClr val="555B63"/>
                </a:solidFill>
              </a:rPr>
              <a:t>Local Keycloak uses the Cloud-IAM client ID and secret to complete the OIDC code exchange.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E4DD5-D3BB-4166-B04B-7A038B40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Discovery endpoint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7A0CC-E164-40E1-8598-732AC3E7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8DFF"/>
                </a:solidFill>
              </a:defRPr>
            </a:pPr>
            <a:r>
              <a:rPr sz="1500" b="0">
                <a:solidFill>
                  <a:srgbClr val="3D8DFF"/>
                </a:solidFill>
              </a:rPr>
              <a:t>https://lemur-2.cloud-iam.com/auth/realms/user-management-dev/.well-known/openid-configuration</a:t>
            </a:r>
          </a:p>
        </p:txBody>
      </p:sp>
    </p:spTree>
    <p:extLst>
      <p:ext uri="{BB962C8B-B14F-4D97-AF65-F5344CB8AC3E}">
        <p14:creationId xmlns:p14="http://schemas.microsoft.com/office/powerpoint/2010/main" val="486154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26889-DAE7-4501-BC30-6BA5DFF2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Mappers decide what the broker imports or assigns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45528-6602-474C-9E57-EC035D97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3"/>
                </a:solidFill>
              </a:defRPr>
            </a:pPr>
            <a:r>
              <a:rPr sz="1275" b="0">
                <a:solidFill>
                  <a:srgbClr val="555B63"/>
                </a:solidFill>
              </a:rPr>
              <a:t>Without mappers, the user may log in but miss useful local attributes or roles.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40294-6D55-49E7-8404-CF6A3DE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79671-7FEB-4DD4-B2C1-3F443E23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3"/>
                </a:solidFill>
              </a:defRPr>
            </a:pPr>
            <a:r>
              <a:rPr sz="975" b="0">
                <a:solidFill>
                  <a:srgbClr val="555B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89B90-6879-4ABF-BF28-B98CD980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66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92BF4-E74F-4A1F-9077-1596C0BC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Mapper 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2EF45-3F5F-417E-BB91-BC686533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70CE9-BC9A-479C-B2FC-4FA969A2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33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Result in local Keycloak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CB264-4683-415D-BF6C-624149F5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949E1-2187-498C-8015-09E90040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Username Template Importer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387A1-3FDF-4D50-8264-BC51634E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${CLAIM.preferred_username}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A4714-E18D-49C1-A8CC-229B0C9D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47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3"/>
                </a:solidFill>
              </a:defRPr>
            </a:pPr>
            <a:r>
              <a:rPr sz="1350" b="0">
                <a:solidFill>
                  <a:srgbClr val="555B63"/>
                </a:solidFill>
              </a:rPr>
              <a:t>Local username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0D257-F641-4758-B1E2-E910CCBD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30FA7-0723-4510-8B19-05F54B8D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Attribute Importer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B14DF-EF25-431B-A3B4-9213E59B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04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email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350C4-3C19-476B-A2DF-FD79C3DD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0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3"/>
                </a:solidFill>
              </a:defRPr>
            </a:pPr>
            <a:r>
              <a:rPr sz="1350" b="0">
                <a:solidFill>
                  <a:srgbClr val="555B63"/>
                </a:solidFill>
              </a:rPr>
              <a:t>Local email attribute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BDE17-CE51-4C3B-8B70-F3727B28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687E1-746F-4AA9-AFF0-0A3504B6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Attribute Importer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E8BDB-C713-47A1-ACA3-CD41C133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52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given_name / family_name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AC63B-1A11-481B-9E0F-B0EB682A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3"/>
                </a:solidFill>
              </a:defRPr>
            </a:pPr>
            <a:r>
              <a:rPr sz="1350" b="0">
                <a:solidFill>
                  <a:srgbClr val="555B63"/>
                </a:solidFill>
              </a:rPr>
              <a:t>First and last name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14E3C-A1A0-412C-8B1D-9B8EDE56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457A-A2F8-4BC8-8586-6815CBDC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Hardcoded Role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AD7368-DBC1-4E41-BCD2-4E98F5B6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8DFF"/>
                </a:solidFill>
              </a:defRPr>
            </a:pPr>
            <a:r>
              <a:rPr sz="1350" b="0">
                <a:solidFill>
                  <a:srgbClr val="3D8DFF"/>
                </a:solidFill>
              </a:rPr>
              <a:t>PORTAL_ADMIN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0E354-B44F-4C3B-A4AF-ED1D3D3D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05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3"/>
                </a:solidFill>
              </a:defRPr>
            </a:pPr>
            <a:r>
              <a:rPr sz="1350" b="0">
                <a:solidFill>
                  <a:srgbClr val="555B63"/>
                </a:solidFill>
              </a:rPr>
              <a:t>Local authorization role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EEBAA-7A6E-4B13-90DA-D816FC02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36B00"/>
                </a:solidFill>
              </a:defRPr>
            </a:pPr>
            <a:r>
              <a:rPr sz="1650" b="1">
                <a:solidFill>
                  <a:srgbClr val="B36B00"/>
                </a:solidFill>
              </a:rPr>
              <a:t>For production, replace hardcoded admin role with group or claim-based mapping.</a:t>
            </a:r>
          </a:p>
        </p:txBody>
      </p:sp>
    </p:spTree>
    <p:extLst>
      <p:ext uri="{BB962C8B-B14F-4D97-AF65-F5344CB8AC3E}">
        <p14:creationId xmlns:p14="http://schemas.microsoft.com/office/powerpoint/2010/main" val="941695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D90D1-D687-449F-8A98-29C4CF3B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Login has two redirects, but one final trusted token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7D78D-5AE5-426E-B37C-F4B1177A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3"/>
                </a:solidFill>
              </a:defRPr>
            </a:pPr>
            <a:r>
              <a:rPr sz="1275" b="0">
                <a:solidFill>
                  <a:srgbClr val="555B63"/>
                </a:solidFill>
              </a:rPr>
              <a:t>This is the manual flow to demonstrate in the browser.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2666B-F888-428D-ACBF-B9638183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3B295-A604-4B72-8A18-7FFC7B3B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3"/>
                </a:solidFill>
              </a:defRPr>
            </a:pPr>
            <a:r>
              <a:rPr sz="975" b="0">
                <a:solidFill>
                  <a:srgbClr val="555B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2BBAD-5D32-475A-BAE7-6475B9EE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648E9-019E-4A4C-B3CB-9C07113D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CC041-3E27-4231-B0D0-EF90FFAC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1. Start at local Keycloak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FF71B-939F-4658-AEF5-6C0FDA6A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B63"/>
                </a:solidFill>
              </a:defRPr>
            </a:pPr>
            <a:r>
              <a:rPr sz="1125" b="0">
                <a:solidFill>
                  <a:srgbClr val="555B63"/>
                </a:solidFill>
              </a:rPr>
              <a:t>http://localhost:8081/realms/task-management-demo/account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8EDD5-C863-4DC0-AC44-6C8B1A19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193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595B3-9BF8-4067-AAC4-B51CEA91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193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F2878-304F-4836-A701-62A7166C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98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2. Choose Cloud-IAM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07CFC-E134-4370-84C8-D6FEAC88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B63"/>
                </a:solidFill>
              </a:defRPr>
            </a:pPr>
            <a:r>
              <a:rPr sz="1125" b="0">
                <a:solidFill>
                  <a:srgbClr val="555B63"/>
                </a:solidFill>
              </a:rPr>
              <a:t>The login page redirects to the external provider.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67966-95B7-4221-A307-3898BF50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44CB1-E6D1-41C4-BD44-FC7D5A16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FBBFA-F1F3-4959-9974-57E2FEE1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098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3. Authenticate externally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366BE-0FA8-46BA-8A93-0A738178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B63"/>
                </a:solidFill>
              </a:defRPr>
            </a:pPr>
            <a:r>
              <a:rPr sz="1125" b="0">
                <a:solidFill>
                  <a:srgbClr val="555B63"/>
                </a:solidFill>
              </a:rPr>
              <a:t>Cloud-IAM validates the username, password, MFA, or external session.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9F023-C193-47CB-876D-A41FA831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193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3C2B2-645E-4CDF-9907-DBAF2258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193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3358B-6E20-44AE-A928-18D21FC8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4. Return to local realm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28814-AD89-4FCE-A68F-CE6783C9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717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B63"/>
                </a:solidFill>
              </a:defRPr>
            </a:pPr>
            <a:r>
              <a:rPr sz="1125" b="0">
                <a:solidFill>
                  <a:srgbClr val="555B63"/>
                </a:solidFill>
              </a:rPr>
              <a:t>Local Keycloak links/imports the user and issues its own token.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1734E-7606-4A6C-BEE0-7310F95E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81250"/>
            <a:ext cx="16192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CD701B-B2D2-45F1-9FA5-97301B07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81250"/>
            <a:ext cx="16192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7AAC1-898D-4AE1-8850-2ECF2D90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381250"/>
            <a:ext cx="16192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E1D62A-FA31-483E-A1C8-940B4DEB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The success condition is not just a Cloud-IAM login. It is landing back in the local realm.</a:t>
            </a:r>
          </a:p>
        </p:txBody>
      </p:sp>
    </p:spTree>
    <p:extLst>
      <p:ext uri="{BB962C8B-B14F-4D97-AF65-F5344CB8AC3E}">
        <p14:creationId xmlns:p14="http://schemas.microsoft.com/office/powerpoint/2010/main" val="1225352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E1419-2DE4-4908-9FFD-3245BA39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Token testing proves which Keycloak the API trusts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FA399-AF4A-4400-B32D-A3D052B2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3"/>
                </a:solidFill>
              </a:defRPr>
            </a:pPr>
            <a:r>
              <a:rPr sz="1275" b="0">
                <a:solidFill>
                  <a:srgbClr val="555B63"/>
                </a:solidFill>
              </a:rPr>
              <a:t>The issuer claim is the fastest way to explain success or failure.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22174-BBF4-44F6-86DC-11EAD88B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2C547-DD57-47C1-80BE-24AAAF5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3"/>
                </a:solidFill>
              </a:defRPr>
            </a:pPr>
            <a:r>
              <a:rPr sz="975" b="0">
                <a:solidFill>
                  <a:srgbClr val="555B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21531-DF8F-4EFE-8A62-41ED64B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F3591-1DC4-4B63-ADD3-FA988285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8A5B"/>
                </a:solidFill>
              </a:defRPr>
            </a:pPr>
            <a:r>
              <a:rPr sz="1800" b="1">
                <a:solidFill>
                  <a:srgbClr val="1F8A5B"/>
                </a:solidFill>
              </a:rPr>
              <a:t>Accepted by task-management-api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D0A5B-8460-47C9-8F5B-F234A7CC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iss = http://localhost:8081/realms/task-management-demo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60029-D22A-4209-981F-4645A34A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3"/>
                </a:solidFill>
              </a:defRPr>
            </a:pPr>
            <a:r>
              <a:rPr sz="1425" b="0">
                <a:solidFill>
                  <a:srgbClr val="555B63"/>
                </a:solidFill>
              </a:rPr>
              <a:t>This token comes from the local broker realm.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9B560-C5D7-4BFE-8074-E1A49C40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1523F-6669-40CE-B90D-E5F54F99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36B00"/>
                </a:solidFill>
              </a:defRPr>
            </a:pPr>
            <a:r>
              <a:rPr sz="1800" b="1">
                <a:solidFill>
                  <a:srgbClr val="B36B00"/>
                </a:solidFill>
              </a:rPr>
              <a:t>Rejected directly by the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EACAC-CA44-4892-82C3-425F1400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iss = https://lemur-2.cloud-iam.com/auth/realms/user-management-dev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AD6A6-FBC9-4285-93BA-2ACDCF64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3"/>
                </a:solidFill>
              </a:defRPr>
            </a:pPr>
            <a:r>
              <a:rPr sz="1425" b="0">
                <a:solidFill>
                  <a:srgbClr val="555B63"/>
                </a:solidFill>
              </a:rPr>
              <a:t>This token comes from the provider, not the broker.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30101-89BC-4FC8-B2B6-B3F0709B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Rule of thumb: the Spring Boot issuer-uri must match the JWT iss claim exactly.</a:t>
            </a:r>
          </a:p>
        </p:txBody>
      </p:sp>
    </p:spTree>
    <p:extLst>
      <p:ext uri="{BB962C8B-B14F-4D97-AF65-F5344CB8AC3E}">
        <p14:creationId xmlns:p14="http://schemas.microsoft.com/office/powerpoint/2010/main" val="375001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37230-7FCB-4717-803B-F21A9434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Manual Keycloak test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AB623-2057-4820-9244-0F9A3F49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3"/>
                </a:solidFill>
              </a:defRPr>
            </a:pPr>
            <a:r>
              <a:rPr sz="1275" b="0">
                <a:solidFill>
                  <a:srgbClr val="555B63"/>
                </a:solidFill>
              </a:rPr>
              <a:t>Use this as the live demo path after configuration.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5F05B-AE4E-4C75-AA0E-8AAFBCB9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79448-C293-4A72-BE3B-0CC8839B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3"/>
                </a:solidFill>
              </a:defRPr>
            </a:pPr>
            <a:r>
              <a:rPr sz="975" b="0">
                <a:solidFill>
                  <a:srgbClr val="555B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581F6-42EE-467D-91F0-44165505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1A387-5000-4317-BF6A-25AA483D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79C50-E2CC-4788-9B74-62E8B524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621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Open local account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FB7DC-EFB2-408F-81F8-C66C6365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050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3"/>
                </a:solidFill>
              </a:defRPr>
            </a:pPr>
            <a:r>
              <a:rPr sz="1200" b="0">
                <a:solidFill>
                  <a:srgbClr val="555B63"/>
                </a:solidFill>
              </a:rPr>
              <a:t>http://localhost:8081/realms/task-management-demo/account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E9D4B-C61F-4055-AF6B-AB7AD49B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07E71-EB4C-4EF3-AC1A-F8D6E3BE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82643-4AD5-42BC-A539-049DCFBE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Click Cloud-IAM on the login 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A6F06-6D74-4D66-8E81-EA2E3A89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766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3"/>
                </a:solidFill>
              </a:defRPr>
            </a:pPr>
            <a:r>
              <a:rPr sz="1200" b="0">
                <a:solidFill>
                  <a:srgbClr val="555B63"/>
                </a:solidFill>
              </a:rPr>
              <a:t>This confirms the identity provider is enabled and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31B21-D1E0-43B4-8A72-518FEECA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15873-8B59-4608-95FE-5683CEBD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431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B4D30-C7CD-4F9C-8908-A778D98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621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Login with Cloud-IAM user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03C0E-5B53-49A4-A0C9-3A2084D2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050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3"/>
                </a:solidFill>
              </a:defRPr>
            </a:pPr>
            <a:r>
              <a:rPr sz="1200" b="0">
                <a:solidFill>
                  <a:srgbClr val="555B63"/>
                </a:solidFill>
              </a:rPr>
              <a:t>The browser should return to the local Keycloak account page.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11F05-32EA-48F6-B03A-07F25790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A6CEF-D1A6-480F-A9CD-81375488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147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6FE55-8C0B-4AF6-B2AD-3BEC0631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Verify imported user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32E89-433A-4B40-BB2E-7D697981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766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3"/>
                </a:solidFill>
              </a:defRPr>
            </a:pPr>
            <a:r>
              <a:rPr sz="1200" b="0">
                <a:solidFill>
                  <a:srgbClr val="555B63"/>
                </a:solidFill>
              </a:rPr>
              <a:t>Local admin console -&gt; task-management-demo -&gt; Users -&gt; Federated identity cloud-iam.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961E52-C11B-4D06-858F-5F69035B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36B00"/>
                </a:solidFill>
              </a:defRPr>
            </a:pPr>
            <a:r>
              <a:rPr sz="1725" b="1">
                <a:solidFill>
                  <a:srgbClr val="B36B00"/>
                </a:solidFill>
              </a:rPr>
              <a:t>If it does not return, check redirect URI, alias, client secret, and provider endpoint first.</a:t>
            </a:r>
          </a:p>
        </p:txBody>
      </p:sp>
    </p:spTree>
    <p:extLst>
      <p:ext uri="{BB962C8B-B14F-4D97-AF65-F5344CB8AC3E}">
        <p14:creationId xmlns:p14="http://schemas.microsoft.com/office/powerpoint/2010/main" val="19773459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4A8D4-60F5-44F4-B970-89AE4E22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The setup is successful when these four checks 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8FB76-329F-4941-99D9-DAF7F8B5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3"/>
                </a:solidFill>
              </a:defRPr>
            </a:pPr>
            <a:r>
              <a:rPr sz="1275" b="0">
                <a:solidFill>
                  <a:srgbClr val="555B63"/>
                </a:solidFill>
              </a:rPr>
              <a:t>These are the acceptance criteria for the team.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0A5BE-EA8E-49E9-842E-AEA19B44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5EE02-E61A-4C70-8AC5-7FEB4C26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3"/>
                </a:solidFill>
              </a:defRPr>
            </a:pPr>
            <a:r>
              <a:rPr sz="975" b="0">
                <a:solidFill>
                  <a:srgbClr val="555B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1D8D2-02F7-4725-98F2-D75CD2D0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C9185-615A-4F01-A9DA-D7AA8B7E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836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Local Keycloak shows Cloud-IAM as a login option.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A9CF7-B230-40AD-B57B-0FBCCA33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7EF38-3528-4825-81E6-65D58EA2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836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Cloud-IAM login returns back to the local realm.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12383-DF2B-45A7-8C50-209EEDAF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49A49-A610-42B3-AEFB-33BBBE5B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836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The user appears in local Keycloak with federated identity cloud-iam.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B432C-3569-4094-9C21-75496215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1F8A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B0AF3-41F1-47BA-BE53-BE1E10E9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836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task-management-api accepts local Keycloak tokens and rejects direct Cloud-IAM tokens.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EFB58-72AF-4F95-883D-82A37D61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Final message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A8AF0-105D-42E6-B9B6-5AD2A578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Cloud-IAM authenticates the user; local Keycloak brokers the login and issues the token the API trusts.</a:t>
            </a:r>
          </a:p>
        </p:txBody>
      </p:sp>
    </p:spTree>
    <p:extLst>
      <p:ext uri="{BB962C8B-B14F-4D97-AF65-F5344CB8AC3E}">
        <p14:creationId xmlns:p14="http://schemas.microsoft.com/office/powerpoint/2010/main" val="1013084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2026-07-27T06:24:09.9240000Z</dcterms:created>
  <dcterms:modified xsi:type="dcterms:W3CDTF">2026-07-27T06:24:09.9240000Z</dcterms:modified>
</coreProperties>
</file>